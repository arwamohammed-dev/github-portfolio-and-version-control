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نمط فاتح 1 - تميي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60" d="100"/>
          <a:sy n="60" d="100"/>
        </p:scale>
        <p:origin x="96" y="1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flipH="1">
            <a:off x="1915643" y="1788454"/>
            <a:ext cx="8361229" cy="2098226"/>
          </a:xfrm>
        </p:spPr>
        <p:txBody>
          <a:bodyPr anchor="b">
            <a:noAutofit/>
          </a:bodyPr>
          <a:lstStyle>
            <a:lvl1pPr algn="ctr" rtl="1">
              <a:defRPr sz="7200" cap="all" baseline="0">
                <a:solidFill>
                  <a:schemeClr val="tx2"/>
                </a:solidFill>
              </a:defRPr>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flipH="1">
            <a:off x="2680421" y="3956279"/>
            <a:ext cx="6831673" cy="1086237"/>
          </a:xfrm>
        </p:spPr>
        <p:txBody>
          <a:bodyPr>
            <a:normAutofit/>
          </a:bodyPr>
          <a:lstStyle>
            <a:lvl1pPr marL="0" indent="0" algn="ctr" rtl="1">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a:xfrm flipH="1">
            <a:off x="9831198" y="6453386"/>
            <a:ext cx="1607944" cy="404614"/>
          </a:xfrm>
        </p:spPr>
        <p:txBody>
          <a:bodyPr/>
          <a:lstStyle>
            <a:lvl1pPr algn="r" rtl="1">
              <a:defRPr baseline="0">
                <a:solidFill>
                  <a:schemeClr val="tx2"/>
                </a:solidFill>
              </a:defRPr>
            </a:lvl1pPr>
          </a:lstStyle>
          <a:p>
            <a:fld id="{87DE6118-2437-4B30-8E3C-4D2BE6020583}" type="datetimeFigureOut">
              <a:rPr lang="en-US" smtClean="0"/>
              <a:pPr/>
              <a:t>2/5/2026</a:t>
            </a:fld>
            <a:endParaRPr lang="en-US" dirty="0"/>
          </a:p>
        </p:txBody>
      </p:sp>
      <p:sp>
        <p:nvSpPr>
          <p:cNvPr id="5" name="Footer Placeholder 4"/>
          <p:cNvSpPr>
            <a:spLocks noGrp="1"/>
          </p:cNvSpPr>
          <p:nvPr>
            <p:ph type="ftr" sz="quarter" idx="11"/>
          </p:nvPr>
        </p:nvSpPr>
        <p:spPr>
          <a:xfrm flipH="1">
            <a:off x="2584569" y="6453386"/>
            <a:ext cx="7023377" cy="404614"/>
          </a:xfrm>
        </p:spPr>
        <p:txBody>
          <a:bodyPr/>
          <a:lstStyle>
            <a:lvl1pPr algn="ctr" rtl="1">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flipH="1">
            <a:off x="765025" y="6453386"/>
            <a:ext cx="1596292" cy="404614"/>
          </a:xfrm>
        </p:spPr>
        <p:txBody>
          <a:bodyPr/>
          <a:lstStyle>
            <a:lvl1pPr algn="l" rtl="1">
              <a:defRPr baseline="0">
                <a:solidFill>
                  <a:schemeClr val="tx2"/>
                </a:solidFill>
              </a:defRPr>
            </a:lvl1pPr>
          </a:lstStyle>
          <a:p>
            <a:fld id="{69E57DC2-970A-4B3E-BB1C-7A09969E49DF}" type="slidenum">
              <a:rPr lang="en-US" smtClean="0"/>
              <a:pPr/>
              <a:t>‹#›</a:t>
            </a:fld>
            <a:endParaRPr lang="en-US" dirty="0"/>
          </a:p>
        </p:txBody>
      </p:sp>
      <p:grpSp>
        <p:nvGrpSpPr>
          <p:cNvPr id="7" name="Group 6"/>
          <p:cNvGrpSpPr/>
          <p:nvPr/>
        </p:nvGrpSpPr>
        <p:grpSpPr>
          <a:xfrm flipH="1">
            <a:off x="765025"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a:xfrm flipH="1">
            <a:off x="1219200" y="685800"/>
            <a:ext cx="9601200" cy="1485900"/>
          </a:xfrm>
        </p:spPr>
        <p:txBody>
          <a:bodyPr/>
          <a:lstStyle>
            <a:lvl1pPr algn="r" rtl="1">
              <a:defRPr/>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flipH="1">
            <a:off x="1219200" y="2286000"/>
            <a:ext cx="9601200" cy="3581400"/>
          </a:xfrm>
        </p:spPr>
        <p:txBody>
          <a:bodyPr/>
          <a:lstStyle>
            <a:lvl1pPr algn="r" rtl="1">
              <a:defRPr/>
            </a:lvl1pPr>
            <a:lvl2pPr algn="r" rtl="1">
              <a:defRPr/>
            </a:lvl2pPr>
            <a:lvl3pPr algn="r" rtl="1">
              <a:defRPr/>
            </a:lvl3pPr>
            <a:lvl4pPr algn="r" rtl="1">
              <a:defRPr/>
            </a:lvl4pPr>
            <a:lvl5pPr algn="r" rtl="1">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5" name="Footer Placeholder 4"/>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6" name="Slide Number Placeholder 5"/>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flipH="1">
            <a:off x="1814004" y="1301360"/>
            <a:ext cx="9612971" cy="2852737"/>
          </a:xfrm>
        </p:spPr>
        <p:txBody>
          <a:bodyPr anchor="b">
            <a:normAutofit/>
          </a:bodyPr>
          <a:lstStyle>
            <a:lvl1pPr algn="l" rtl="1">
              <a:defRPr sz="7200" cap="all" baseline="0">
                <a:solidFill>
                  <a:schemeClr val="tx2"/>
                </a:solidFill>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flipH="1">
            <a:off x="1814004" y="4216328"/>
            <a:ext cx="9612971" cy="1143324"/>
          </a:xfrm>
        </p:spPr>
        <p:txBody>
          <a:bodyPr/>
          <a:lstStyle>
            <a:lvl1pPr marL="0" indent="0" algn="l" rtl="1">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a:xfrm flipH="1">
            <a:off x="9830683" y="6453386"/>
            <a:ext cx="1622409" cy="404614"/>
          </a:xfrm>
        </p:spPr>
        <p:txBody>
          <a:bodyPr/>
          <a:lstStyle>
            <a:lvl1pPr algn="r" rtl="1">
              <a:defRPr>
                <a:solidFill>
                  <a:schemeClr val="tx2"/>
                </a:solidFill>
              </a:defRPr>
            </a:lvl1pPr>
          </a:lstStyle>
          <a:p>
            <a:fld id="{87DE6118-2437-4B30-8E3C-4D2BE6020583}" type="datetimeFigureOut">
              <a:rPr lang="en-US" smtClean="0"/>
              <a:pPr/>
              <a:t>2/5/2026</a:t>
            </a:fld>
            <a:endParaRPr lang="en-US" dirty="0"/>
          </a:p>
        </p:txBody>
      </p:sp>
      <p:sp>
        <p:nvSpPr>
          <p:cNvPr id="5" name="Footer Placeholder 4"/>
          <p:cNvSpPr>
            <a:spLocks noGrp="1"/>
          </p:cNvSpPr>
          <p:nvPr>
            <p:ph type="ftr" sz="quarter" idx="11"/>
          </p:nvPr>
        </p:nvSpPr>
        <p:spPr>
          <a:xfrm flipH="1">
            <a:off x="2584311" y="6453386"/>
            <a:ext cx="7023377" cy="404614"/>
          </a:xfrm>
        </p:spPr>
        <p:txBody>
          <a:bodyPr/>
          <a:lstStyle>
            <a:lvl1pPr algn="ctr" rtl="1">
              <a:defRPr>
                <a:solidFill>
                  <a:schemeClr val="tx2"/>
                </a:solidFill>
              </a:defRPr>
            </a:lvl1pPr>
          </a:lstStyle>
          <a:p>
            <a:endParaRPr lang="en-US" dirty="0"/>
          </a:p>
        </p:txBody>
      </p:sp>
      <p:sp>
        <p:nvSpPr>
          <p:cNvPr id="6" name="Slide Number Placeholder 5"/>
          <p:cNvSpPr>
            <a:spLocks noGrp="1"/>
          </p:cNvSpPr>
          <p:nvPr>
            <p:ph type="sldNum" sz="quarter" idx="12"/>
          </p:nvPr>
        </p:nvSpPr>
        <p:spPr>
          <a:xfrm flipH="1">
            <a:off x="765025" y="6453386"/>
            <a:ext cx="1596292" cy="404614"/>
          </a:xfrm>
        </p:spPr>
        <p:txBody>
          <a:bodyPr/>
          <a:lstStyle>
            <a:lvl1pPr algn="l" rtl="1">
              <a:defRPr>
                <a:solidFill>
                  <a:schemeClr val="tx2"/>
                </a:solidFill>
              </a:defRPr>
            </a:lvl1pPr>
          </a:lstStyle>
          <a:p>
            <a:fld id="{69E57DC2-970A-4B3E-BB1C-7A09969E49DF}" type="slidenum">
              <a:rPr lang="en-US" smtClean="0"/>
              <a:pPr/>
              <a:t>‹#›</a:t>
            </a:fld>
            <a:endParaRPr lang="en-US" dirty="0"/>
          </a:p>
        </p:txBody>
      </p:sp>
      <p:sp>
        <p:nvSpPr>
          <p:cNvPr id="7" name="Freeform 6" title="Crop Mark"/>
          <p:cNvSpPr/>
          <p:nvPr/>
        </p:nvSpPr>
        <p:spPr bwMode="auto">
          <a:xfrm flipH="1">
            <a:off x="765025"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pPr algn="r" rtl="1"/>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a:xfrm flipH="1">
            <a:off x="1219200" y="685800"/>
            <a:ext cx="9601200" cy="1485900"/>
          </a:xfrm>
        </p:spPr>
        <p:txBody>
          <a:bodyPr/>
          <a:lstStyle>
            <a:lvl1pPr algn="r" rtl="1">
              <a:defRPr>
                <a:solidFill>
                  <a:schemeClr val="tx2"/>
                </a:solidFill>
              </a:defRPr>
            </a:lvl1p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flipH="1">
            <a:off x="6372614" y="2285999"/>
            <a:ext cx="4447786" cy="3581401"/>
          </a:xfrm>
        </p:spPr>
        <p:txBody>
          <a:bodyPr/>
          <a:lstStyle>
            <a:lvl1pPr algn="r" rtl="1">
              <a:defRPr baseline="0">
                <a:solidFill>
                  <a:schemeClr val="tx2"/>
                </a:solidFill>
              </a:defRPr>
            </a:lvl1pPr>
            <a:lvl2pPr algn="r" rtl="1">
              <a:defRPr baseline="0">
                <a:solidFill>
                  <a:schemeClr val="tx2"/>
                </a:solidFill>
              </a:defRPr>
            </a:lvl2pPr>
            <a:lvl3pPr algn="r" rtl="1">
              <a:defRPr baseline="0">
                <a:solidFill>
                  <a:schemeClr val="tx2"/>
                </a:solidFill>
              </a:defRPr>
            </a:lvl3pPr>
            <a:lvl4pPr algn="r" rtl="1">
              <a:defRPr baseline="0">
                <a:solidFill>
                  <a:schemeClr val="tx2"/>
                </a:solidFill>
              </a:defRPr>
            </a:lvl4pPr>
            <a:lvl5pPr algn="r" rtl="1">
              <a:defRPr baseline="0">
                <a:solidFill>
                  <a:schemeClr val="tx2"/>
                </a:solidFill>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flipH="1">
            <a:off x="1218811" y="2285999"/>
            <a:ext cx="4447786" cy="3581401"/>
          </a:xfrm>
        </p:spPr>
        <p:txBody>
          <a:bodyPr/>
          <a:lstStyle>
            <a:lvl1pPr algn="r" rtl="1">
              <a:defRPr>
                <a:solidFill>
                  <a:schemeClr val="tx2"/>
                </a:solidFill>
              </a:defRPr>
            </a:lvl1pPr>
            <a:lvl2pPr algn="r" rtl="1">
              <a:defRPr>
                <a:solidFill>
                  <a:schemeClr val="tx2"/>
                </a:solidFill>
              </a:defRPr>
            </a:lvl2pPr>
            <a:lvl3pPr algn="r" rtl="1">
              <a:defRPr>
                <a:solidFill>
                  <a:schemeClr val="tx2"/>
                </a:solidFill>
              </a:defRPr>
            </a:lvl3pPr>
            <a:lvl4pPr algn="r" rtl="1">
              <a:defRPr>
                <a:solidFill>
                  <a:schemeClr val="tx2"/>
                </a:solidFill>
              </a:defRPr>
            </a:lvl4pPr>
            <a:lvl5pPr algn="r" rtl="1">
              <a:defRPr>
                <a:solidFill>
                  <a:schemeClr val="tx2"/>
                </a:solidFill>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6" name="Footer Placeholder 5"/>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7" name="Slide Number Placeholder 6"/>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flipH="1">
            <a:off x="1219200" y="685800"/>
            <a:ext cx="9601200" cy="1485900"/>
          </a:xfrm>
        </p:spPr>
        <p:txBody>
          <a:bodyPr/>
          <a:lstStyle>
            <a:lvl1pPr algn="r" rtl="1">
              <a:defRPr>
                <a:solidFill>
                  <a:schemeClr val="tx2"/>
                </a:solidFill>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flipH="1">
            <a:off x="6376416" y="2340864"/>
            <a:ext cx="4443984" cy="823912"/>
          </a:xfrm>
        </p:spPr>
        <p:txBody>
          <a:bodyPr anchor="b">
            <a:noAutofit/>
          </a:bodyPr>
          <a:lstStyle>
            <a:lvl1pPr marL="0" indent="0" algn="r" rtl="1">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flipH="1">
            <a:off x="6376416" y="3305207"/>
            <a:ext cx="4443984" cy="2562193"/>
          </a:xfrm>
        </p:spPr>
        <p:txBody>
          <a:bodyPr/>
          <a:lstStyle>
            <a:lvl1pPr algn="r" rtl="1">
              <a:defRPr baseline="0">
                <a:solidFill>
                  <a:schemeClr val="tx2"/>
                </a:solidFill>
              </a:defRPr>
            </a:lvl1pPr>
            <a:lvl2pPr algn="r" rtl="1">
              <a:defRPr baseline="0">
                <a:solidFill>
                  <a:schemeClr val="tx2"/>
                </a:solidFill>
              </a:defRPr>
            </a:lvl2pPr>
            <a:lvl3pPr algn="r" rtl="1">
              <a:defRPr baseline="0">
                <a:solidFill>
                  <a:schemeClr val="tx2"/>
                </a:solidFill>
              </a:defRPr>
            </a:lvl3pPr>
            <a:lvl4pPr algn="r" rtl="1">
              <a:defRPr baseline="0">
                <a:solidFill>
                  <a:schemeClr val="tx2"/>
                </a:solidFill>
              </a:defRPr>
            </a:lvl4pPr>
            <a:lvl5pPr algn="r" rtl="1">
              <a:defRPr baseline="0">
                <a:solidFill>
                  <a:schemeClr val="tx2"/>
                </a:solidFill>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flipH="1">
            <a:off x="1223002" y="2340864"/>
            <a:ext cx="4443984" cy="823912"/>
          </a:xfrm>
        </p:spPr>
        <p:txBody>
          <a:bodyPr anchor="b">
            <a:noAutofit/>
          </a:bodyPr>
          <a:lstStyle>
            <a:lvl1pPr marL="0" indent="0" algn="r" rtl="1">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flipH="1">
            <a:off x="1223002" y="3305207"/>
            <a:ext cx="4443984" cy="2562193"/>
          </a:xfrm>
        </p:spPr>
        <p:txBody>
          <a:bodyPr/>
          <a:lstStyle>
            <a:lvl1pPr algn="r" rtl="1">
              <a:defRPr baseline="0">
                <a:solidFill>
                  <a:schemeClr val="tx2"/>
                </a:solidFill>
              </a:defRPr>
            </a:lvl1pPr>
            <a:lvl2pPr algn="r" rtl="1">
              <a:defRPr baseline="0">
                <a:solidFill>
                  <a:schemeClr val="tx2"/>
                </a:solidFill>
              </a:defRPr>
            </a:lvl2pPr>
            <a:lvl3pPr algn="r" rtl="1">
              <a:defRPr baseline="0">
                <a:solidFill>
                  <a:schemeClr val="tx2"/>
                </a:solidFill>
              </a:defRPr>
            </a:lvl3pPr>
            <a:lvl4pPr algn="r" rtl="1">
              <a:defRPr baseline="0">
                <a:solidFill>
                  <a:schemeClr val="tx2"/>
                </a:solidFill>
              </a:defRPr>
            </a:lvl4pPr>
            <a:lvl5pPr algn="r" rtl="1">
              <a:defRPr baseline="0">
                <a:solidFill>
                  <a:schemeClr val="tx2"/>
                </a:solidFill>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8" name="Footer Placeholder 7"/>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9" name="Slide Number Placeholder 8"/>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a:xfrm flipH="1">
            <a:off x="1219200" y="685800"/>
            <a:ext cx="9601200" cy="1485900"/>
          </a:xfrm>
        </p:spPr>
        <p:txBody>
          <a:bodyPr/>
          <a:lstStyle>
            <a:lvl1pPr algn="r" rtl="1">
              <a:defRPr/>
            </a:lvl1pPr>
          </a:lstStyle>
          <a:p>
            <a:r>
              <a:rPr lang="ar-SA"/>
              <a:t>انقر لتحرير نمط عنوان الشكل الرئيسي</a:t>
            </a:r>
            <a:endParaRPr lang="en-US" dirty="0"/>
          </a:p>
        </p:txBody>
      </p:sp>
      <p:sp>
        <p:nvSpPr>
          <p:cNvPr id="3" name="Date Placeholder 2"/>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4" name="Footer Placeholder 3"/>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5" name="Slide Number Placeholder 4"/>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3" name="Footer Placeholder 2"/>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4" name="Slide Number Placeholder 3"/>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مع تسمية توضيحية">
    <p:spTree>
      <p:nvGrpSpPr>
        <p:cNvPr id="1" name=""/>
        <p:cNvGrpSpPr/>
        <p:nvPr/>
      </p:nvGrpSpPr>
      <p:grpSpPr>
        <a:xfrm>
          <a:off x="0" y="0"/>
          <a:ext cx="0" cy="0"/>
          <a:chOff x="0" y="0"/>
          <a:chExt cx="0" cy="0"/>
        </a:xfrm>
      </p:grpSpPr>
      <p:sp>
        <p:nvSpPr>
          <p:cNvPr id="8" name="Rectangle 7" title="Background Shape"/>
          <p:cNvSpPr/>
          <p:nvPr/>
        </p:nvSpPr>
        <p:spPr>
          <a:xfrm flipH="1">
            <a:off x="688848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r" rtl="1"/>
            <a:endParaRPr lang="en-US"/>
          </a:p>
        </p:txBody>
      </p:sp>
      <p:sp>
        <p:nvSpPr>
          <p:cNvPr id="2" name="Title 1"/>
          <p:cNvSpPr>
            <a:spLocks noGrp="1"/>
          </p:cNvSpPr>
          <p:nvPr>
            <p:ph type="title"/>
          </p:nvPr>
        </p:nvSpPr>
        <p:spPr>
          <a:xfrm flipH="1">
            <a:off x="7612380" y="685800"/>
            <a:ext cx="3855720" cy="2157884"/>
          </a:xfrm>
        </p:spPr>
        <p:txBody>
          <a:bodyPr anchor="t">
            <a:noAutofit/>
          </a:bodyPr>
          <a:lstStyle>
            <a:lvl1pPr algn="r" rtl="1">
              <a:lnSpc>
                <a:spcPct val="84000"/>
              </a:lnSpc>
              <a:defRPr sz="4800" baseline="0">
                <a:solidFill>
                  <a:schemeClr val="tx2"/>
                </a:solidFill>
              </a:defRPr>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flipH="1">
            <a:off x="723900" y="685801"/>
            <a:ext cx="5212080" cy="5175250"/>
          </a:xfrm>
        </p:spPr>
        <p:txBody>
          <a:bodyPr/>
          <a:lstStyle>
            <a:lvl1pPr algn="r" rtl="1">
              <a:defRPr sz="2000"/>
            </a:lvl1pPr>
            <a:lvl2pPr algn="r" rtl="1">
              <a:defRPr sz="2000"/>
            </a:lvl2pPr>
            <a:lvl3pPr algn="r" rtl="1">
              <a:defRPr sz="1800"/>
            </a:lvl3pPr>
            <a:lvl4pPr algn="r" rtl="1">
              <a:defRPr sz="1800"/>
            </a:lvl4pPr>
            <a:lvl5pPr algn="r" rtl="1">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flipH="1">
            <a:off x="7612380" y="2856344"/>
            <a:ext cx="3855720" cy="3011056"/>
          </a:xfrm>
        </p:spPr>
        <p:txBody>
          <a:bodyPr/>
          <a:lstStyle>
            <a:lvl1pPr marL="0" indent="0" algn="r" rtl="1">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a:xfrm flipH="1">
            <a:off x="10263528" y="6453386"/>
            <a:ext cx="1204572" cy="404614"/>
          </a:xfrm>
        </p:spPr>
        <p:txBody>
          <a:bodyPr/>
          <a:lstStyle>
            <a:lvl1pPr algn="r" rtl="1">
              <a:defRPr>
                <a:solidFill>
                  <a:schemeClr val="tx2"/>
                </a:solidFill>
              </a:defRPr>
            </a:lvl1pPr>
          </a:lstStyle>
          <a:p>
            <a:fld id="{87DE6118-2437-4B30-8E3C-4D2BE6020583}" type="datetimeFigureOut">
              <a:rPr lang="en-US" smtClean="0"/>
              <a:pPr/>
              <a:t>2/5/2026</a:t>
            </a:fld>
            <a:endParaRPr lang="en-US" dirty="0"/>
          </a:p>
        </p:txBody>
      </p:sp>
      <p:sp>
        <p:nvSpPr>
          <p:cNvPr id="6" name="Footer Placeholder 5"/>
          <p:cNvSpPr>
            <a:spLocks noGrp="1"/>
          </p:cNvSpPr>
          <p:nvPr>
            <p:ph type="ftr" sz="quarter" idx="11"/>
          </p:nvPr>
        </p:nvSpPr>
        <p:spPr>
          <a:xfrm flipH="1">
            <a:off x="7612380" y="6453386"/>
            <a:ext cx="2373675" cy="404614"/>
          </a:xfrm>
        </p:spPr>
        <p:txBody>
          <a:bodyPr/>
          <a:lstStyle>
            <a:lvl1pPr algn="r" rtl="1">
              <a:defRPr>
                <a:solidFill>
                  <a:schemeClr val="tx2"/>
                </a:solidFill>
              </a:defRPr>
            </a:lvl1pPr>
          </a:lstStyle>
          <a:p>
            <a:endParaRPr lang="en-US" dirty="0"/>
          </a:p>
        </p:txBody>
      </p:sp>
      <p:sp>
        <p:nvSpPr>
          <p:cNvPr id="7" name="Slide Number Placeholder 6"/>
          <p:cNvSpPr>
            <a:spLocks noGrp="1"/>
          </p:cNvSpPr>
          <p:nvPr>
            <p:ph type="sldNum" sz="quarter" idx="12"/>
          </p:nvPr>
        </p:nvSpPr>
        <p:spPr>
          <a:xfrm flipH="1">
            <a:off x="712568" y="6453386"/>
            <a:ext cx="1596292" cy="404614"/>
          </a:xfrm>
        </p:spPr>
        <p:txBody>
          <a:bodyPr/>
          <a:lstStyle>
            <a:lvl1pPr algn="l" rtl="1">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flipH="1">
            <a:off x="665988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r" rtl="1"/>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8" name="Rectangle 7" title="Background Shape"/>
          <p:cNvSpPr/>
          <p:nvPr/>
        </p:nvSpPr>
        <p:spPr>
          <a:xfrm flipH="1">
            <a:off x="688848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r" rtl="1"/>
            <a:endParaRPr lang="en-US"/>
          </a:p>
        </p:txBody>
      </p:sp>
      <p:sp>
        <p:nvSpPr>
          <p:cNvPr id="2" name="Title 1"/>
          <p:cNvSpPr>
            <a:spLocks noGrp="1"/>
          </p:cNvSpPr>
          <p:nvPr>
            <p:ph type="title"/>
          </p:nvPr>
        </p:nvSpPr>
        <p:spPr>
          <a:xfrm flipH="1">
            <a:off x="7612380" y="685800"/>
            <a:ext cx="3855720" cy="2157884"/>
          </a:xfrm>
        </p:spPr>
        <p:txBody>
          <a:bodyPr anchor="t">
            <a:normAutofit/>
          </a:bodyPr>
          <a:lstStyle>
            <a:lvl1pPr algn="r" rtl="1">
              <a:lnSpc>
                <a:spcPct val="84000"/>
              </a:lnSpc>
              <a:defRPr sz="4800" baseline="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flipH="1">
            <a:off x="0" y="0"/>
            <a:ext cx="6659880" cy="6857999"/>
          </a:xfrm>
        </p:spPr>
        <p:txBody>
          <a:bodyPr anchor="t">
            <a:normAutofit/>
          </a:bodyPr>
          <a:lstStyle>
            <a:lvl1pPr marL="0" indent="0" algn="r" rtl="1">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flipH="1">
            <a:off x="7612380" y="2855968"/>
            <a:ext cx="3855720" cy="3011432"/>
          </a:xfrm>
        </p:spPr>
        <p:txBody>
          <a:bodyPr/>
          <a:lstStyle>
            <a:lvl1pPr marL="0" indent="0" algn="r" rtl="1">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a:xfrm flipH="1">
            <a:off x="10263528" y="6453386"/>
            <a:ext cx="1204572" cy="404614"/>
          </a:xfrm>
        </p:spPr>
        <p:txBody>
          <a:bodyPr/>
          <a:lstStyle>
            <a:lvl1pPr algn="r" rtl="1">
              <a:defRPr>
                <a:solidFill>
                  <a:schemeClr val="tx2"/>
                </a:solidFill>
              </a:defRPr>
            </a:lvl1pPr>
          </a:lstStyle>
          <a:p>
            <a:fld id="{87DE6118-2437-4B30-8E3C-4D2BE6020583}" type="datetimeFigureOut">
              <a:rPr lang="en-US" smtClean="0"/>
              <a:pPr/>
              <a:t>2/5/2026</a:t>
            </a:fld>
            <a:endParaRPr lang="en-US" dirty="0"/>
          </a:p>
        </p:txBody>
      </p:sp>
      <p:sp>
        <p:nvSpPr>
          <p:cNvPr id="6" name="Footer Placeholder 5"/>
          <p:cNvSpPr>
            <a:spLocks noGrp="1"/>
          </p:cNvSpPr>
          <p:nvPr>
            <p:ph type="ftr" sz="quarter" idx="11"/>
          </p:nvPr>
        </p:nvSpPr>
        <p:spPr>
          <a:xfrm flipH="1">
            <a:off x="7612380" y="6453386"/>
            <a:ext cx="2373675" cy="404614"/>
          </a:xfrm>
        </p:spPr>
        <p:txBody>
          <a:bodyPr/>
          <a:lstStyle>
            <a:lvl1pPr algn="r" rtl="1">
              <a:defRPr>
                <a:solidFill>
                  <a:schemeClr val="tx2"/>
                </a:solidFill>
              </a:defRPr>
            </a:lvl1pPr>
          </a:lstStyle>
          <a:p>
            <a:endParaRPr lang="en-US" dirty="0"/>
          </a:p>
        </p:txBody>
      </p:sp>
      <p:sp>
        <p:nvSpPr>
          <p:cNvPr id="7" name="Slide Number Placeholder 6"/>
          <p:cNvSpPr>
            <a:spLocks noGrp="1"/>
          </p:cNvSpPr>
          <p:nvPr>
            <p:ph type="sldNum" sz="quarter" idx="12"/>
          </p:nvPr>
        </p:nvSpPr>
        <p:spPr>
          <a:xfrm flipH="1">
            <a:off x="712568" y="6453386"/>
            <a:ext cx="1596292" cy="404614"/>
          </a:xfrm>
        </p:spPr>
        <p:txBody>
          <a:bodyPr/>
          <a:lstStyle>
            <a:lvl1pPr algn="l" rtl="1">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flipH="1">
            <a:off x="665988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r" rtl="1"/>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a:xfrm flipH="1">
            <a:off x="1219200" y="685800"/>
            <a:ext cx="9601200" cy="1485900"/>
          </a:xfrm>
        </p:spPr>
        <p:txBody>
          <a:bodyPr/>
          <a:lstStyle>
            <a:lvl1pPr algn="r" rtl="1">
              <a:defRPr/>
            </a:lvl1p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flipH="1">
            <a:off x="1219200" y="2295525"/>
            <a:ext cx="9601200" cy="3571875"/>
          </a:xfrm>
        </p:spPr>
        <p:txBody>
          <a:bodyPr vert="eaVert"/>
          <a:lstStyle>
            <a:lvl1pPr algn="r" rtl="1">
              <a:defRPr/>
            </a:lvl1pPr>
            <a:lvl2pPr algn="r" rtl="1">
              <a:defRPr/>
            </a:lvl2pPr>
            <a:lvl3pPr algn="r" rtl="1">
              <a:defRPr/>
            </a:lvl3pPr>
            <a:lvl4pPr algn="r" rtl="1">
              <a:defRPr/>
            </a:lvl4pPr>
            <a:lvl5pPr algn="r" rtl="1">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5" name="Footer Placeholder 4"/>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6" name="Slide Number Placeholder 5"/>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flipH="1">
            <a:off x="1029673" y="624156"/>
            <a:ext cx="1565766" cy="5243244"/>
          </a:xfrm>
        </p:spPr>
        <p:txBody>
          <a:bodyPr vert="eaVert"/>
          <a:lstStyle>
            <a:lvl1pPr algn="r" rtl="1">
              <a:defRPr/>
            </a:lvl1p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flipH="1">
            <a:off x="2640759" y="624156"/>
            <a:ext cx="8179641" cy="5243244"/>
          </a:xfrm>
        </p:spPr>
        <p:txBody>
          <a:bodyPr vert="eaVert"/>
          <a:lstStyle>
            <a:lvl1pPr algn="r" rtl="1">
              <a:defRPr/>
            </a:lvl1pPr>
            <a:lvl2pPr algn="r" rtl="1">
              <a:defRPr/>
            </a:lvl2pPr>
            <a:lvl3pPr algn="r" rtl="1">
              <a:defRPr/>
            </a:lvl3pPr>
            <a:lvl4pPr algn="r" rtl="1">
              <a:defRPr/>
            </a:lvl4pPr>
            <a:lvl5pPr algn="r" rtl="1">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a:xfrm flipH="1">
            <a:off x="9596778" y="6453386"/>
            <a:ext cx="1204572" cy="404614"/>
          </a:xfrm>
        </p:spPr>
        <p:txBody>
          <a:bodyPr/>
          <a:lstStyle>
            <a:lvl1pPr algn="r" rtl="1">
              <a:defRPr/>
            </a:lvl1pPr>
          </a:lstStyle>
          <a:p>
            <a:fld id="{87DE6118-2437-4B30-8E3C-4D2BE6020583}" type="datetimeFigureOut">
              <a:rPr lang="en-US" smtClean="0"/>
              <a:pPr/>
              <a:t>2/5/2026</a:t>
            </a:fld>
            <a:endParaRPr lang="en-US" dirty="0"/>
          </a:p>
        </p:txBody>
      </p:sp>
      <p:sp>
        <p:nvSpPr>
          <p:cNvPr id="5" name="Footer Placeholder 4"/>
          <p:cNvSpPr>
            <a:spLocks noGrp="1"/>
          </p:cNvSpPr>
          <p:nvPr>
            <p:ph type="ftr" sz="quarter" idx="11"/>
          </p:nvPr>
        </p:nvSpPr>
        <p:spPr>
          <a:xfrm flipH="1">
            <a:off x="3017606" y="6453386"/>
            <a:ext cx="6280830" cy="404614"/>
          </a:xfrm>
        </p:spPr>
        <p:txBody>
          <a:bodyPr/>
          <a:lstStyle>
            <a:lvl1pPr algn="r" rtl="1">
              <a:defRPr/>
            </a:lvl1pPr>
          </a:lstStyle>
          <a:p>
            <a:endParaRPr lang="en-US" dirty="0"/>
          </a:p>
        </p:txBody>
      </p:sp>
      <p:sp>
        <p:nvSpPr>
          <p:cNvPr id="6" name="Slide Number Placeholder 5"/>
          <p:cNvSpPr>
            <a:spLocks noGrp="1"/>
          </p:cNvSpPr>
          <p:nvPr>
            <p:ph type="sldNum" sz="quarter" idx="12"/>
          </p:nvPr>
        </p:nvSpPr>
        <p:spPr>
          <a:xfrm flipH="1">
            <a:off x="1122972" y="6453386"/>
            <a:ext cx="1596292" cy="404614"/>
          </a:xfrm>
        </p:spPr>
        <p:txBody>
          <a:bodyPr/>
          <a:lstStyle>
            <a:lvl1pPr algn="l" rtl="1">
              <a:defRPr/>
            </a:lvl1pPr>
          </a:lstStyle>
          <a:p>
            <a:fld id="{69E57DC2-970A-4B3E-BB1C-7A09969E49DF}"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flipH="1">
            <a:off x="1219200" y="685800"/>
            <a:ext cx="9601200" cy="1485900"/>
          </a:xfrm>
          <a:prstGeom prst="rect">
            <a:avLst/>
          </a:prstGeom>
        </p:spPr>
        <p:txBody>
          <a:bodyPr vert="horz" lIns="91440" tIns="45720" rIns="91440" bIns="45720" rtlCol="0" anchor="t">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flipH="1">
            <a:off x="1219200" y="2286000"/>
            <a:ext cx="9601200" cy="3581400"/>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flipH="1">
            <a:off x="9596778" y="6453386"/>
            <a:ext cx="1204572" cy="404614"/>
          </a:xfrm>
          <a:prstGeom prst="rect">
            <a:avLst/>
          </a:prstGeom>
        </p:spPr>
        <p:txBody>
          <a:bodyPr vert="horz" lIns="91440" tIns="45720" rIns="91440" bIns="45720" rtlCol="0" anchor="ctr"/>
          <a:lstStyle>
            <a:lvl1pPr algn="r" rtl="1">
              <a:defRPr sz="1200" baseline="0">
                <a:solidFill>
                  <a:schemeClr val="tx2"/>
                </a:solidFill>
              </a:defRPr>
            </a:lvl1pPr>
          </a:lstStyle>
          <a:p>
            <a:fld id="{87DE6118-2437-4B30-8E3C-4D2BE6020583}" type="datetimeFigureOut">
              <a:rPr lang="en-US" smtClean="0"/>
              <a:pPr/>
              <a:t>2/5/2026</a:t>
            </a:fld>
            <a:endParaRPr lang="en-US" dirty="0"/>
          </a:p>
        </p:txBody>
      </p:sp>
      <p:sp>
        <p:nvSpPr>
          <p:cNvPr id="5" name="Footer Placeholder 4"/>
          <p:cNvSpPr>
            <a:spLocks noGrp="1"/>
          </p:cNvSpPr>
          <p:nvPr>
            <p:ph type="ftr" sz="quarter" idx="3"/>
          </p:nvPr>
        </p:nvSpPr>
        <p:spPr>
          <a:xfrm flipH="1">
            <a:off x="3017606"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flipH="1">
            <a:off x="1122972" y="6453386"/>
            <a:ext cx="1596292" cy="404614"/>
          </a:xfrm>
          <a:prstGeom prst="rect">
            <a:avLst/>
          </a:prstGeom>
        </p:spPr>
        <p:txBody>
          <a:bodyPr vert="horz" lIns="91440" tIns="45720" rIns="91440" bIns="45720" rtlCol="0" anchor="ctr"/>
          <a:lstStyle>
            <a:lvl1pPr algn="l" rtl="1">
              <a:defRPr sz="1200" baseline="0">
                <a:solidFill>
                  <a:schemeClr val="tx2"/>
                </a:solidFill>
              </a:defRPr>
            </a:lvl1pPr>
          </a:lstStyle>
          <a:p>
            <a:fld id="{69E57DC2-970A-4B3E-BB1C-7A09969E49DF}" type="slidenum">
              <a:rPr lang="en-US" smtClean="0"/>
              <a:pPr/>
              <a:t>‹#›</a:t>
            </a:fld>
            <a:endParaRPr lang="en-US" dirty="0"/>
          </a:p>
        </p:txBody>
      </p:sp>
      <p:sp>
        <p:nvSpPr>
          <p:cNvPr id="9" name="Rectangle 8" title="Side bar"/>
          <p:cNvSpPr/>
          <p:nvPr/>
        </p:nvSpPr>
        <p:spPr>
          <a:xfrm flipH="1">
            <a:off x="1148530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r" defTabSz="914400" rtl="1"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r" defTabSz="914400" rtl="1"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FBC6083-04EA-FD72-796F-3E9461B62B0E}"/>
              </a:ext>
            </a:extLst>
          </p:cNvPr>
          <p:cNvSpPr>
            <a:spLocks noGrp="1"/>
          </p:cNvSpPr>
          <p:nvPr>
            <p:ph type="ctrTitle"/>
          </p:nvPr>
        </p:nvSpPr>
        <p:spPr>
          <a:xfrm flipH="1">
            <a:off x="1615754" y="1180304"/>
            <a:ext cx="9368587" cy="568286"/>
          </a:xfrm>
        </p:spPr>
        <p:txBody>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a comparison between different databases </a:t>
            </a:r>
            <a:endParaRPr lang="ar-SA" sz="2800" b="1" dirty="0">
              <a:latin typeface="Times New Roman" panose="02020603050405020304" pitchFamily="18" charset="0"/>
              <a:cs typeface="Times New Roman" panose="02020603050405020304" pitchFamily="18" charset="0"/>
            </a:endParaRPr>
          </a:p>
        </p:txBody>
      </p:sp>
      <p:graphicFrame>
        <p:nvGraphicFramePr>
          <p:cNvPr id="13" name="جدول 12">
            <a:extLst>
              <a:ext uri="{FF2B5EF4-FFF2-40B4-BE49-F238E27FC236}">
                <a16:creationId xmlns:a16="http://schemas.microsoft.com/office/drawing/2014/main" id="{CFD844A6-3A15-D4B0-FE28-F25494882F30}"/>
              </a:ext>
            </a:extLst>
          </p:cNvPr>
          <p:cNvGraphicFramePr>
            <a:graphicFrameLocks noGrp="1"/>
          </p:cNvGraphicFramePr>
          <p:nvPr>
            <p:extLst>
              <p:ext uri="{D42A27DB-BD31-4B8C-83A1-F6EECF244321}">
                <p14:modId xmlns:p14="http://schemas.microsoft.com/office/powerpoint/2010/main" val="4109903176"/>
              </p:ext>
            </p:extLst>
          </p:nvPr>
        </p:nvGraphicFramePr>
        <p:xfrm>
          <a:off x="1915384" y="1941095"/>
          <a:ext cx="8769328" cy="3604322"/>
        </p:xfrm>
        <a:graphic>
          <a:graphicData uri="http://schemas.openxmlformats.org/drawingml/2006/table">
            <a:tbl>
              <a:tblPr rtl="1" firstRow="1" bandRow="1">
                <a:tableStyleId>{C083E6E3-FA7D-4D7B-A595-EF9225AFEA82}</a:tableStyleId>
              </a:tblPr>
              <a:tblGrid>
                <a:gridCol w="2192332">
                  <a:extLst>
                    <a:ext uri="{9D8B030D-6E8A-4147-A177-3AD203B41FA5}">
                      <a16:colId xmlns:a16="http://schemas.microsoft.com/office/drawing/2014/main" val="457182121"/>
                    </a:ext>
                  </a:extLst>
                </a:gridCol>
                <a:gridCol w="1915426">
                  <a:extLst>
                    <a:ext uri="{9D8B030D-6E8A-4147-A177-3AD203B41FA5}">
                      <a16:colId xmlns:a16="http://schemas.microsoft.com/office/drawing/2014/main" val="173266453"/>
                    </a:ext>
                  </a:extLst>
                </a:gridCol>
                <a:gridCol w="2963303">
                  <a:extLst>
                    <a:ext uri="{9D8B030D-6E8A-4147-A177-3AD203B41FA5}">
                      <a16:colId xmlns:a16="http://schemas.microsoft.com/office/drawing/2014/main" val="2261092871"/>
                    </a:ext>
                  </a:extLst>
                </a:gridCol>
                <a:gridCol w="1698267">
                  <a:extLst>
                    <a:ext uri="{9D8B030D-6E8A-4147-A177-3AD203B41FA5}">
                      <a16:colId xmlns:a16="http://schemas.microsoft.com/office/drawing/2014/main" val="1720060173"/>
                    </a:ext>
                  </a:extLst>
                </a:gridCol>
              </a:tblGrid>
              <a:tr h="526245">
                <a:tc>
                  <a:txBody>
                    <a:bodyPr/>
                    <a:lstStyle/>
                    <a:p>
                      <a:pPr algn="ctr" rtl="1"/>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PostgreSQL</a:t>
                      </a:r>
                      <a:endParaRPr lang="ar-SA" sz="2000" b="0" dirty="0">
                        <a:latin typeface="Times New Roman" panose="02020603050405020304" pitchFamily="18" charset="0"/>
                        <a:cs typeface="Times New Roman" panose="02020603050405020304" pitchFamily="18" charset="0"/>
                      </a:endParaRPr>
                    </a:p>
                  </a:txBody>
                  <a:tcPr/>
                </a:tc>
                <a:tc>
                  <a:txBody>
                    <a:bodyPr/>
                    <a:lstStyle/>
                    <a:p>
                      <a:pPr algn="ctr" rtl="1"/>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Oracle Database</a:t>
                      </a:r>
                      <a:endParaRPr lang="ar-SA" sz="20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Microsoft SQL Server (Enterprise)</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Criteria</a:t>
                      </a:r>
                      <a:endParaRPr lang="ar-SA"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07484000"/>
                  </a:ext>
                </a:extLst>
              </a:tr>
              <a:tr h="750192">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Open Source Community (Unspecified Entity)</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Oracle (Established &amp; Trusted) </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Microsoft (Established &amp; Trusted) </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Developer / Vendor</a:t>
                      </a:r>
                      <a:endParaRPr lang="ar-SA"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7239917"/>
                  </a:ext>
                </a:extLst>
              </a:tr>
              <a:tr h="30565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Open Source </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Proprietary  </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Proprietary</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Licensing Type</a:t>
                      </a:r>
                      <a:endParaRPr lang="ar-SA"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4234901"/>
                  </a:ext>
                </a:extLst>
              </a:tr>
              <a:tr h="894430">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Requires Third-Party Tools</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Real Application Clusters (RAC) </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Always On Availability Groups (Native Integration)</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High Availability</a:t>
                      </a:r>
                      <a:endParaRPr lang="ar-SA"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2129108"/>
                  </a:ext>
                </a:extLst>
              </a:tr>
              <a:tr h="972532">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Dependent on Community Extensions</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Advanced Security (Data Vault)</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Transparent Data Encryption (TDE) &amp; Row-Level Security</a:t>
                      </a:r>
                      <a:endParaRPr lang="ar-SA" sz="1600" b="0" dirty="0">
                        <a:latin typeface="Times New Roman" panose="02020603050405020304" pitchFamily="18" charset="0"/>
                        <a:cs typeface="Times New Roman" panose="02020603050405020304" pitchFamily="18" charset="0"/>
                      </a:endParaRPr>
                    </a:p>
                  </a:txBody>
                  <a:tcPr/>
                </a:tc>
                <a:tc>
                  <a:txBody>
                    <a:bodyPr/>
                    <a:lstStyle/>
                    <a:p>
                      <a:pPr algn="ctr" rtl="1"/>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Data Protection</a:t>
                      </a:r>
                      <a:endParaRPr lang="ar-SA"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8871433"/>
                  </a:ext>
                </a:extLst>
              </a:tr>
            </a:tbl>
          </a:graphicData>
        </a:graphic>
      </p:graphicFrame>
    </p:spTree>
    <p:extLst>
      <p:ext uri="{BB962C8B-B14F-4D97-AF65-F5344CB8AC3E}">
        <p14:creationId xmlns:p14="http://schemas.microsoft.com/office/powerpoint/2010/main" val="390915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17428F6-256F-A233-5790-C3417FD5B435}"/>
              </a:ext>
            </a:extLst>
          </p:cNvPr>
          <p:cNvSpPr>
            <a:spLocks noGrp="1"/>
          </p:cNvSpPr>
          <p:nvPr>
            <p:ph type="title"/>
          </p:nvPr>
        </p:nvSpPr>
        <p:spPr>
          <a:xfrm flipH="1">
            <a:off x="561473" y="653716"/>
            <a:ext cx="9601200" cy="757989"/>
          </a:xfrm>
        </p:spPr>
        <p:txBody>
          <a:bodyPr>
            <a:normAutofit fontScale="90000"/>
          </a:bodyPr>
          <a:lstStyle/>
          <a:p>
            <a:r>
              <a:rPr lang="en-US" sz="5400" b="1" kern="100" dirty="0">
                <a:effectLst/>
                <a:latin typeface="Aptos" panose="020B0004020202020204" pitchFamily="34" charset="0"/>
                <a:ea typeface="Aptos" panose="020B0004020202020204" pitchFamily="34" charset="0"/>
                <a:cs typeface="Arial" panose="020B0604020202020204" pitchFamily="34" charset="0"/>
              </a:rPr>
              <a:t>Selected Database &amp; Rationale</a:t>
            </a:r>
            <a:endParaRPr lang="ar-SA" sz="18200" dirty="0"/>
          </a:p>
        </p:txBody>
      </p:sp>
      <p:sp>
        <p:nvSpPr>
          <p:cNvPr id="11" name="عنوان 1">
            <a:extLst>
              <a:ext uri="{FF2B5EF4-FFF2-40B4-BE49-F238E27FC236}">
                <a16:creationId xmlns:a16="http://schemas.microsoft.com/office/drawing/2014/main" id="{773669C5-9AF5-5936-9DB5-E479DE77AB6D}"/>
              </a:ext>
            </a:extLst>
          </p:cNvPr>
          <p:cNvSpPr txBox="1">
            <a:spLocks/>
          </p:cNvSpPr>
          <p:nvPr/>
        </p:nvSpPr>
        <p:spPr>
          <a:xfrm flipH="1">
            <a:off x="1090863" y="1411705"/>
            <a:ext cx="9601200" cy="4423611"/>
          </a:xfrm>
          <a:prstGeom prst="rect">
            <a:avLst/>
          </a:prstGeom>
        </p:spPr>
        <p:txBody>
          <a:bodyPr vert="horz" lIns="91440" tIns="45720" rIns="91440" bIns="45720" rtlCol="0" anchor="t">
            <a:normAutofit fontScale="25000" lnSpcReduction="20000"/>
          </a:bodyPr>
          <a:lstStyle>
            <a:lvl1pPr algn="r" defTabSz="914400" rtl="1" eaLnBrk="1" latinLnBrk="0" hangingPunct="1">
              <a:lnSpc>
                <a:spcPct val="89000"/>
              </a:lnSpc>
              <a:spcBef>
                <a:spcPct val="0"/>
              </a:spcBef>
              <a:buNone/>
              <a:defRPr sz="4400" kern="1200" baseline="0">
                <a:solidFill>
                  <a:schemeClr val="tx2"/>
                </a:solidFill>
                <a:latin typeface="+mj-lt"/>
                <a:ea typeface="+mj-ea"/>
                <a:cs typeface="+mj-cs"/>
              </a:defRPr>
            </a:lvl1pPr>
          </a:lstStyle>
          <a:p>
            <a:pPr algn="l"/>
            <a:r>
              <a:rPr lang="en-US" sz="7200" b="1" kern="100" dirty="0">
                <a:effectLst/>
                <a:latin typeface="Aptos" panose="020B0004020202020204" pitchFamily="34" charset="0"/>
                <a:ea typeface="Aptos" panose="020B0004020202020204" pitchFamily="34" charset="0"/>
                <a:cs typeface="Arial" panose="020B0604020202020204" pitchFamily="34" charset="0"/>
              </a:rPr>
              <a:t>The selected database is:</a:t>
            </a:r>
            <a:r>
              <a:rPr lang="en-US" sz="7200" b="1" kern="100" dirty="0">
                <a:latin typeface="Aptos" panose="020B0004020202020204" pitchFamily="34" charset="0"/>
                <a:ea typeface="Aptos" panose="020B0004020202020204" pitchFamily="34" charset="0"/>
                <a:cs typeface="Arial" panose="020B0604020202020204" pitchFamily="34" charset="0"/>
              </a:rPr>
              <a:t> </a:t>
            </a:r>
            <a:r>
              <a:rPr lang="en-US" sz="7200" b="1" u="sng" kern="100" dirty="0">
                <a:effectLst/>
                <a:latin typeface="Aptos" panose="020B0004020202020204" pitchFamily="34" charset="0"/>
                <a:ea typeface="Aptos" panose="020B0004020202020204" pitchFamily="34" charset="0"/>
                <a:cs typeface="Arial" panose="020B0604020202020204" pitchFamily="34" charset="0"/>
              </a:rPr>
              <a:t>Microsoft SQL Server (Enterprise Edition)</a:t>
            </a:r>
          </a:p>
          <a:p>
            <a:pPr algn="l"/>
            <a:endParaRPr lang="en-US" sz="7200" kern="100" dirty="0">
              <a:effectLst/>
              <a:latin typeface="Aptos" panose="020B0004020202020204" pitchFamily="34" charset="0"/>
              <a:ea typeface="Aptos" panose="020B0004020202020204" pitchFamily="34" charset="0"/>
              <a:cs typeface="Arial" panose="020B0604020202020204" pitchFamily="34" charset="0"/>
            </a:endParaRPr>
          </a:p>
          <a:p>
            <a:pPr algn="l" rtl="1">
              <a:lnSpc>
                <a:spcPct val="115000"/>
              </a:lnSpc>
              <a:spcAft>
                <a:spcPts val="800"/>
              </a:spcAft>
            </a:pPr>
            <a:r>
              <a:rPr lang="en-US" sz="6400" b="1" kern="100" dirty="0">
                <a:effectLst/>
                <a:latin typeface="Aptos" panose="020B0004020202020204" pitchFamily="34" charset="0"/>
                <a:ea typeface="Aptos" panose="020B0004020202020204" pitchFamily="34" charset="0"/>
                <a:cs typeface="Arial" panose="020B0604020202020204" pitchFamily="34" charset="0"/>
              </a:rPr>
              <a:t>PostgreSQL</a:t>
            </a:r>
            <a:r>
              <a:rPr lang="en-US" sz="6400" kern="100" dirty="0">
                <a:effectLst/>
                <a:latin typeface="Aptos" panose="020B0004020202020204" pitchFamily="34" charset="0"/>
                <a:ea typeface="Aptos" panose="020B0004020202020204" pitchFamily="34" charset="0"/>
                <a:cs typeface="Arial" panose="020B0604020202020204" pitchFamily="34" charset="0"/>
              </a:rPr>
              <a:t> was excluded due to its open-source nature, which does not align with the strict defense criteria for proprietary, vendor-supported software. While</a:t>
            </a:r>
            <a:r>
              <a:rPr lang="en-US" sz="6400" b="1" kern="100" dirty="0">
                <a:effectLst/>
                <a:latin typeface="Aptos" panose="020B0004020202020204" pitchFamily="34" charset="0"/>
                <a:ea typeface="Aptos" panose="020B0004020202020204" pitchFamily="34" charset="0"/>
                <a:cs typeface="Arial" panose="020B0604020202020204" pitchFamily="34" charset="0"/>
              </a:rPr>
              <a:t> Oracle </a:t>
            </a:r>
            <a:r>
              <a:rPr lang="en-US" sz="6400" kern="100" dirty="0">
                <a:effectLst/>
                <a:latin typeface="Aptos" panose="020B0004020202020204" pitchFamily="34" charset="0"/>
                <a:ea typeface="Aptos" panose="020B0004020202020204" pitchFamily="34" charset="0"/>
                <a:cs typeface="Arial" panose="020B0604020202020204" pitchFamily="34" charset="0"/>
              </a:rPr>
              <a:t>is a robust and compliant option, </a:t>
            </a:r>
            <a:r>
              <a:rPr lang="en-US" sz="6400" b="1" kern="100" dirty="0">
                <a:effectLst/>
                <a:latin typeface="Aptos" panose="020B0004020202020204" pitchFamily="34" charset="0"/>
                <a:ea typeface="Aptos" panose="020B0004020202020204" pitchFamily="34" charset="0"/>
                <a:cs typeface="Arial" panose="020B0604020202020204" pitchFamily="34" charset="0"/>
              </a:rPr>
              <a:t>Microsoft SQL Server Enterprise</a:t>
            </a:r>
            <a:r>
              <a:rPr lang="en-US" sz="6400" kern="100" dirty="0">
                <a:effectLst/>
                <a:latin typeface="Aptos" panose="020B0004020202020204" pitchFamily="34" charset="0"/>
                <a:ea typeface="Aptos" panose="020B0004020202020204" pitchFamily="34" charset="0"/>
                <a:cs typeface="Arial" panose="020B0604020202020204" pitchFamily="34" charset="0"/>
              </a:rPr>
              <a:t> was</a:t>
            </a:r>
            <a:r>
              <a:rPr lang="en-US" sz="6400" b="1" kern="100" dirty="0">
                <a:effectLst/>
                <a:latin typeface="Aptos" panose="020B0004020202020204" pitchFamily="34" charset="0"/>
                <a:ea typeface="Aptos" panose="020B0004020202020204" pitchFamily="34" charset="0"/>
                <a:cs typeface="Arial" panose="020B0604020202020204" pitchFamily="34" charset="0"/>
              </a:rPr>
              <a:t> selected </a:t>
            </a:r>
            <a:r>
              <a:rPr lang="en-US" sz="6400" kern="100" dirty="0">
                <a:effectLst/>
                <a:latin typeface="Aptos" panose="020B0004020202020204" pitchFamily="34" charset="0"/>
                <a:ea typeface="Aptos" panose="020B0004020202020204" pitchFamily="34" charset="0"/>
                <a:cs typeface="Arial" panose="020B0604020202020204" pitchFamily="34" charset="0"/>
              </a:rPr>
              <a:t>for the </a:t>
            </a:r>
            <a:r>
              <a:rPr lang="en-US" sz="6400" b="1" kern="100" dirty="0">
                <a:effectLst/>
                <a:latin typeface="Aptos" panose="020B0004020202020204" pitchFamily="34" charset="0"/>
                <a:ea typeface="Aptos" panose="020B0004020202020204" pitchFamily="34" charset="0"/>
                <a:cs typeface="Arial" panose="020B0604020202020204" pitchFamily="34" charset="0"/>
              </a:rPr>
              <a:t>following reasons: </a:t>
            </a:r>
          </a:p>
          <a:p>
            <a:pPr algn="l" rtl="1">
              <a:lnSpc>
                <a:spcPct val="115000"/>
              </a:lnSpc>
              <a:spcAft>
                <a:spcPts val="800"/>
              </a:spcAft>
            </a:pPr>
            <a:endParaRPr lang="en-US" sz="7200" kern="100" dirty="0">
              <a:effectLst/>
              <a:latin typeface="Aptos" panose="020B0004020202020204" pitchFamily="34" charset="0"/>
              <a:ea typeface="Aptos" panose="020B0004020202020204" pitchFamily="34" charset="0"/>
              <a:cs typeface="Arial" panose="020B0604020202020204" pitchFamily="34" charset="0"/>
            </a:endParaRPr>
          </a:p>
          <a:p>
            <a:pPr lvl="0" algn="l" rtl="1">
              <a:lnSpc>
                <a:spcPct val="115000"/>
              </a:lnSpc>
              <a:spcAft>
                <a:spcPts val="800"/>
              </a:spcAft>
              <a:buSzPts val="1000"/>
              <a:tabLst>
                <a:tab pos="457200" algn="l"/>
              </a:tabLst>
            </a:pPr>
            <a:r>
              <a:rPr lang="en-US" sz="7200" kern="100" dirty="0">
                <a:effectLst/>
                <a:latin typeface="Aptos" panose="020B0004020202020204" pitchFamily="34" charset="0"/>
                <a:ea typeface="Aptos" panose="020B0004020202020204" pitchFamily="34" charset="0"/>
                <a:cs typeface="Arial" panose="020B0604020202020204" pitchFamily="34" charset="0"/>
              </a:rPr>
              <a:t> </a:t>
            </a:r>
            <a:r>
              <a:rPr lang="en-US" sz="7200" b="1" kern="100" dirty="0">
                <a:effectLst/>
                <a:latin typeface="Aptos" panose="020B0004020202020204" pitchFamily="34" charset="0"/>
                <a:ea typeface="Aptos" panose="020B0004020202020204" pitchFamily="34" charset="0"/>
                <a:cs typeface="Arial" panose="020B0604020202020204" pitchFamily="34" charset="0"/>
              </a:rPr>
              <a:t>Native Ecosystem Compatibility:</a:t>
            </a:r>
            <a:r>
              <a:rPr lang="en-US" sz="7200" kern="100" dirty="0">
                <a:effectLst/>
                <a:latin typeface="Aptos" panose="020B0004020202020204" pitchFamily="34" charset="0"/>
                <a:ea typeface="Aptos" panose="020B0004020202020204" pitchFamily="34" charset="0"/>
                <a:cs typeface="Arial" panose="020B0604020202020204" pitchFamily="34" charset="0"/>
              </a:rPr>
              <a:t> It provides seamless integration with </a:t>
            </a:r>
            <a:r>
              <a:rPr lang="en-US" sz="7200" b="1" kern="100" dirty="0">
                <a:effectLst/>
                <a:latin typeface="Aptos" panose="020B0004020202020204" pitchFamily="34" charset="0"/>
                <a:ea typeface="Aptos" panose="020B0004020202020204" pitchFamily="34" charset="0"/>
                <a:cs typeface="Arial" panose="020B0604020202020204" pitchFamily="34" charset="0"/>
              </a:rPr>
              <a:t>Visual Studio</a:t>
            </a:r>
            <a:r>
              <a:rPr lang="en-US" sz="7200" kern="100" dirty="0">
                <a:effectLst/>
                <a:latin typeface="Aptos" panose="020B0004020202020204" pitchFamily="34" charset="0"/>
                <a:ea typeface="Aptos" panose="020B0004020202020204" pitchFamily="34" charset="0"/>
                <a:cs typeface="Arial" panose="020B0604020202020204" pitchFamily="34" charset="0"/>
              </a:rPr>
              <a:t>, the IDE I am using for development. This ensures maximum stability and eliminates integration vulnerabilities.</a:t>
            </a:r>
            <a:endParaRPr lang="ar-SA" sz="7200" kern="100" dirty="0">
              <a:effectLst/>
              <a:latin typeface="Aptos" panose="020B0004020202020204" pitchFamily="34" charset="0"/>
              <a:ea typeface="Aptos" panose="020B0004020202020204" pitchFamily="34" charset="0"/>
              <a:cs typeface="Arial" panose="020B0604020202020204" pitchFamily="34" charset="0"/>
            </a:endParaRPr>
          </a:p>
          <a:p>
            <a:pPr lvl="0" algn="l" rtl="1">
              <a:lnSpc>
                <a:spcPct val="115000"/>
              </a:lnSpc>
              <a:spcAft>
                <a:spcPts val="800"/>
              </a:spcAft>
              <a:buSzPts val="1000"/>
              <a:tabLst>
                <a:tab pos="457200" algn="l"/>
              </a:tabLst>
            </a:pPr>
            <a:endParaRPr lang="ar-SA" sz="7200" kern="100" dirty="0">
              <a:effectLst/>
              <a:latin typeface="Aptos" panose="020B0004020202020204" pitchFamily="34" charset="0"/>
              <a:ea typeface="Aptos" panose="020B0004020202020204" pitchFamily="34" charset="0"/>
              <a:cs typeface="Arial" panose="020B0604020202020204" pitchFamily="34" charset="0"/>
            </a:endParaRPr>
          </a:p>
          <a:p>
            <a:pPr lvl="0" algn="l" rtl="1">
              <a:lnSpc>
                <a:spcPct val="115000"/>
              </a:lnSpc>
              <a:spcAft>
                <a:spcPts val="800"/>
              </a:spcAft>
              <a:buSzPts val="1000"/>
              <a:tabLst>
                <a:tab pos="457200" algn="l"/>
              </a:tabLst>
            </a:pPr>
            <a:r>
              <a:rPr lang="en-US" sz="7200" kern="100" dirty="0">
                <a:effectLst/>
                <a:latin typeface="Aptos" panose="020B0004020202020204" pitchFamily="34" charset="0"/>
                <a:ea typeface="Aptos" panose="020B0004020202020204" pitchFamily="34" charset="0"/>
                <a:cs typeface="Arial" panose="020B0604020202020204" pitchFamily="34" charset="0"/>
              </a:rPr>
              <a:t> </a:t>
            </a:r>
            <a:r>
              <a:rPr lang="en-US" sz="7200" b="1" kern="100" dirty="0">
                <a:effectLst/>
                <a:latin typeface="Aptos" panose="020B0004020202020204" pitchFamily="34" charset="0"/>
                <a:ea typeface="Aptos" panose="020B0004020202020204" pitchFamily="34" charset="0"/>
                <a:cs typeface="Arial" panose="020B0604020202020204" pitchFamily="34" charset="0"/>
              </a:rPr>
              <a:t>Operational Efficiency:</a:t>
            </a:r>
            <a:r>
              <a:rPr lang="en-US" sz="7200" kern="100" dirty="0">
                <a:effectLst/>
                <a:latin typeface="Aptos" panose="020B0004020202020204" pitchFamily="34" charset="0"/>
                <a:ea typeface="Aptos" panose="020B0004020202020204" pitchFamily="34" charset="0"/>
                <a:cs typeface="Arial" panose="020B0604020202020204" pitchFamily="34" charset="0"/>
              </a:rPr>
              <a:t> SQL Server offers a more streamlined management experience, allowing for faster deployment and system responsiveness in a radar environment.</a:t>
            </a:r>
            <a:endParaRPr lang="ar-SA" sz="7200" kern="100" dirty="0">
              <a:effectLst/>
              <a:latin typeface="Aptos" panose="020B0004020202020204" pitchFamily="34" charset="0"/>
              <a:ea typeface="Aptos" panose="020B0004020202020204" pitchFamily="34" charset="0"/>
              <a:cs typeface="Arial" panose="020B0604020202020204" pitchFamily="34" charset="0"/>
            </a:endParaRPr>
          </a:p>
          <a:p>
            <a:pPr lvl="0" algn="l" rtl="1">
              <a:lnSpc>
                <a:spcPct val="115000"/>
              </a:lnSpc>
              <a:spcAft>
                <a:spcPts val="800"/>
              </a:spcAft>
              <a:buSzPts val="1000"/>
              <a:tabLst>
                <a:tab pos="457200" algn="l"/>
              </a:tabLst>
            </a:pPr>
            <a:endParaRPr lang="en-US" sz="7200" kern="100" dirty="0">
              <a:effectLst/>
              <a:latin typeface="Aptos" panose="020B0004020202020204" pitchFamily="34" charset="0"/>
              <a:ea typeface="Aptos" panose="020B0004020202020204" pitchFamily="34" charset="0"/>
              <a:cs typeface="Arial" panose="020B0604020202020204" pitchFamily="34" charset="0"/>
            </a:endParaRPr>
          </a:p>
          <a:p>
            <a:pPr lvl="0" algn="l" rtl="1">
              <a:lnSpc>
                <a:spcPct val="115000"/>
              </a:lnSpc>
              <a:spcAft>
                <a:spcPts val="800"/>
              </a:spcAft>
              <a:buSzPts val="1000"/>
              <a:tabLst>
                <a:tab pos="457200" algn="l"/>
              </a:tabLst>
            </a:pPr>
            <a:r>
              <a:rPr lang="en-US" sz="7200" kern="100" dirty="0">
                <a:effectLst/>
                <a:latin typeface="Aptos" panose="020B0004020202020204" pitchFamily="34" charset="0"/>
                <a:ea typeface="Aptos" panose="020B0004020202020204" pitchFamily="34" charset="0"/>
                <a:cs typeface="Arial" panose="020B0604020202020204" pitchFamily="34" charset="0"/>
              </a:rPr>
              <a:t> </a:t>
            </a:r>
            <a:r>
              <a:rPr lang="en-US" sz="7200" b="1" kern="100" dirty="0">
                <a:effectLst/>
                <a:latin typeface="Aptos" panose="020B0004020202020204" pitchFamily="34" charset="0"/>
                <a:ea typeface="Aptos" panose="020B0004020202020204" pitchFamily="34" charset="0"/>
                <a:cs typeface="Arial" panose="020B0604020202020204" pitchFamily="34" charset="0"/>
              </a:rPr>
              <a:t>Defense-Grade Reliability:</a:t>
            </a:r>
            <a:r>
              <a:rPr lang="en-US" sz="7200" kern="100" dirty="0">
                <a:effectLst/>
                <a:latin typeface="Aptos" panose="020B0004020202020204" pitchFamily="34" charset="0"/>
                <a:ea typeface="Aptos" panose="020B0004020202020204" pitchFamily="34" charset="0"/>
                <a:cs typeface="Arial" panose="020B0604020202020204" pitchFamily="34" charset="0"/>
              </a:rPr>
              <a:t> It fully supports </a:t>
            </a:r>
            <a:r>
              <a:rPr lang="en-US" sz="7200" b="1" kern="100" dirty="0">
                <a:effectLst/>
                <a:latin typeface="Aptos" panose="020B0004020202020204" pitchFamily="34" charset="0"/>
                <a:ea typeface="Aptos" panose="020B0004020202020204" pitchFamily="34" charset="0"/>
                <a:cs typeface="Arial" panose="020B0604020202020204" pitchFamily="34" charset="0"/>
              </a:rPr>
              <a:t>Always On Availability</a:t>
            </a:r>
            <a:r>
              <a:rPr lang="en-US" sz="7200" kern="100" dirty="0">
                <a:effectLst/>
                <a:latin typeface="Aptos" panose="020B0004020202020204" pitchFamily="34" charset="0"/>
                <a:ea typeface="Aptos" panose="020B0004020202020204" pitchFamily="34" charset="0"/>
                <a:cs typeface="Arial" panose="020B0604020202020204" pitchFamily="34" charset="0"/>
              </a:rPr>
              <a:t> and </a:t>
            </a:r>
            <a:r>
              <a:rPr lang="en-US" sz="7200" b="1" kern="100" dirty="0">
                <a:effectLst/>
                <a:latin typeface="Aptos" panose="020B0004020202020204" pitchFamily="34" charset="0"/>
                <a:ea typeface="Aptos" panose="020B0004020202020204" pitchFamily="34" charset="0"/>
                <a:cs typeface="Arial" panose="020B0604020202020204" pitchFamily="34" charset="0"/>
              </a:rPr>
              <a:t>Transparent Data Encryption (TDE)</a:t>
            </a:r>
            <a:r>
              <a:rPr lang="en-US" sz="7200" kern="100" dirty="0">
                <a:effectLst/>
                <a:latin typeface="Aptos" panose="020B0004020202020204" pitchFamily="34" charset="0"/>
                <a:ea typeface="Aptos" panose="020B0004020202020204" pitchFamily="34" charset="0"/>
                <a:cs typeface="Arial" panose="020B0604020202020204" pitchFamily="34" charset="0"/>
              </a:rPr>
              <a:t>, meeting the high security and availability standards required.</a:t>
            </a:r>
          </a:p>
          <a:p>
            <a:pPr algn="r" rtl="1">
              <a:lnSpc>
                <a:spcPct val="115000"/>
              </a:lnSpc>
              <a:spcAft>
                <a:spcPts val="800"/>
              </a:spcAft>
            </a:pPr>
            <a:r>
              <a:rPr lang="ar-SA" sz="7200" kern="100" dirty="0">
                <a:effectLst/>
                <a:latin typeface="Aptos" panose="020B0004020202020204" pitchFamily="34" charset="0"/>
                <a:ea typeface="Aptos" panose="020B0004020202020204" pitchFamily="34" charset="0"/>
                <a:cs typeface="Arial" panose="020B0604020202020204" pitchFamily="34" charset="0"/>
              </a:rPr>
              <a:t> </a:t>
            </a:r>
            <a:endParaRPr lang="en-US" sz="7200" kern="100" dirty="0">
              <a:effectLst/>
              <a:latin typeface="Aptos" panose="020B0004020202020204" pitchFamily="34" charset="0"/>
              <a:ea typeface="Aptos" panose="020B0004020202020204" pitchFamily="34" charset="0"/>
              <a:cs typeface="Arial" panose="020B0604020202020204" pitchFamily="34" charset="0"/>
            </a:endParaRPr>
          </a:p>
          <a:p>
            <a:endParaRPr lang="ar-SA" sz="1600" dirty="0"/>
          </a:p>
        </p:txBody>
      </p:sp>
    </p:spTree>
    <p:extLst>
      <p:ext uri="{BB962C8B-B14F-4D97-AF65-F5344CB8AC3E}">
        <p14:creationId xmlns:p14="http://schemas.microsoft.com/office/powerpoint/2010/main" val="699302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3398E85-6D3D-84C6-EB2C-EB94DDDFD32E}"/>
              </a:ext>
            </a:extLst>
          </p:cNvPr>
          <p:cNvSpPr>
            <a:spLocks noGrp="1"/>
          </p:cNvSpPr>
          <p:nvPr>
            <p:ph type="title"/>
          </p:nvPr>
        </p:nvSpPr>
        <p:spPr>
          <a:xfrm flipH="1">
            <a:off x="433136" y="685799"/>
            <a:ext cx="10892589" cy="5201653"/>
          </a:xfrm>
        </p:spPr>
        <p:txBody>
          <a:bodyPr>
            <a:noAutofit/>
          </a:bodyPr>
          <a:lstStyle/>
          <a:p>
            <a:pPr algn="l" rtl="1">
              <a:lnSpc>
                <a:spcPct val="115000"/>
              </a:lnSpc>
              <a:spcAft>
                <a:spcPts val="800"/>
              </a:spcAft>
            </a:pPr>
            <a:r>
              <a:rPr lang="en-US" sz="3600" b="1" dirty="0"/>
              <a:t>Note :</a:t>
            </a:r>
            <a:br>
              <a:rPr lang="en-US" sz="3600" b="1" dirty="0"/>
            </a:br>
            <a:br>
              <a:rPr lang="en-US" sz="2400" kern="100" dirty="0">
                <a:effectLst/>
                <a:latin typeface="Aptos" panose="020B0004020202020204" pitchFamily="34" charset="0"/>
                <a:ea typeface="Aptos" panose="020B0004020202020204" pitchFamily="34" charset="0"/>
                <a:cs typeface="Arial" panose="020B0604020202020204" pitchFamily="34" charset="0"/>
              </a:rPr>
            </a:br>
            <a:r>
              <a:rPr lang="en-US" sz="2400" kern="100" dirty="0">
                <a:effectLst/>
                <a:latin typeface="Aptos" panose="020B0004020202020204" pitchFamily="34" charset="0"/>
                <a:ea typeface="Aptos" panose="020B0004020202020204" pitchFamily="34" charset="0"/>
                <a:cs typeface="Arial" panose="020B0604020202020204" pitchFamily="34" charset="0"/>
              </a:rPr>
              <a:t>What is currently being demonstrated in </a:t>
            </a:r>
            <a:r>
              <a:rPr lang="en-US" sz="2400" b="1" kern="100" dirty="0">
                <a:effectLst/>
                <a:latin typeface="Aptos" panose="020B0004020202020204" pitchFamily="34" charset="0"/>
                <a:ea typeface="Aptos" panose="020B0004020202020204" pitchFamily="34" charset="0"/>
                <a:cs typeface="Arial" panose="020B0604020202020204" pitchFamily="34" charset="0"/>
              </a:rPr>
              <a:t>Visual Studio</a:t>
            </a:r>
            <a:r>
              <a:rPr lang="en-US" sz="2400" kern="100" dirty="0">
                <a:effectLst/>
                <a:latin typeface="Aptos" panose="020B0004020202020204" pitchFamily="34" charset="0"/>
                <a:ea typeface="Aptos" panose="020B0004020202020204" pitchFamily="34" charset="0"/>
                <a:cs typeface="Arial" panose="020B0604020202020204" pitchFamily="34" charset="0"/>
              </a:rPr>
              <a:t> is the </a:t>
            </a:r>
            <a:r>
              <a:rPr lang="en-US" sz="2400" b="1" kern="100" dirty="0">
                <a:effectLst/>
                <a:latin typeface="Aptos" panose="020B0004020202020204" pitchFamily="34" charset="0"/>
                <a:ea typeface="Aptos" panose="020B0004020202020204" pitchFamily="34" charset="0"/>
                <a:cs typeface="Arial" panose="020B0604020202020204" pitchFamily="34" charset="0"/>
              </a:rPr>
              <a:t>Prototype</a:t>
            </a:r>
            <a:r>
              <a:rPr lang="en-US" sz="2400" kern="100" dirty="0">
                <a:effectLst/>
                <a:latin typeface="Aptos" panose="020B0004020202020204" pitchFamily="34" charset="0"/>
                <a:ea typeface="Aptos" panose="020B0004020202020204" pitchFamily="34" charset="0"/>
                <a:cs typeface="Arial" panose="020B0604020202020204" pitchFamily="34" charset="0"/>
              </a:rPr>
              <a:t> phase. The primary objective of this stage is to design the core database architecture and validate the logic and data constraints in a controlled environment to ensure operational efficiency before actual deployment.</a:t>
            </a:r>
            <a:br>
              <a:rPr lang="ar-SA" sz="2400" kern="100" dirty="0">
                <a:effectLst/>
                <a:latin typeface="Aptos" panose="020B0004020202020204" pitchFamily="34" charset="0"/>
                <a:ea typeface="Aptos" panose="020B0004020202020204" pitchFamily="34" charset="0"/>
                <a:cs typeface="Arial" panose="020B0604020202020204" pitchFamily="34" charset="0"/>
              </a:rPr>
            </a:br>
            <a:br>
              <a:rPr lang="en-US" sz="2400" kern="100" dirty="0">
                <a:effectLst/>
                <a:latin typeface="Aptos" panose="020B0004020202020204" pitchFamily="34" charset="0"/>
                <a:ea typeface="Aptos" panose="020B0004020202020204" pitchFamily="34" charset="0"/>
                <a:cs typeface="Arial" panose="020B0604020202020204" pitchFamily="34" charset="0"/>
              </a:rPr>
            </a:br>
            <a:r>
              <a:rPr lang="en-US" sz="2400" kern="100" dirty="0">
                <a:effectLst/>
                <a:latin typeface="Aptos" panose="020B0004020202020204" pitchFamily="34" charset="0"/>
                <a:ea typeface="Aptos" panose="020B0004020202020204" pitchFamily="34" charset="0"/>
                <a:cs typeface="Arial" panose="020B0604020202020204" pitchFamily="34" charset="0"/>
              </a:rPr>
              <a:t>In a </a:t>
            </a:r>
            <a:r>
              <a:rPr lang="en-US" sz="2400" b="1" kern="100" dirty="0">
                <a:effectLst/>
                <a:latin typeface="Aptos" panose="020B0004020202020204" pitchFamily="34" charset="0"/>
                <a:ea typeface="Aptos" panose="020B0004020202020204" pitchFamily="34" charset="0"/>
                <a:cs typeface="Arial" panose="020B0604020202020204" pitchFamily="34" charset="0"/>
              </a:rPr>
              <a:t>defense-grade environment</a:t>
            </a:r>
            <a:r>
              <a:rPr lang="en-US" sz="2400" kern="100" dirty="0">
                <a:effectLst/>
                <a:latin typeface="Aptos" panose="020B0004020202020204" pitchFamily="34" charset="0"/>
                <a:ea typeface="Aptos" panose="020B0004020202020204" pitchFamily="34" charset="0"/>
                <a:cs typeface="Arial" panose="020B0604020202020204" pitchFamily="34" charset="0"/>
              </a:rPr>
              <a:t>, these tables will be migrated to </a:t>
            </a:r>
            <a:r>
              <a:rPr lang="en-US" sz="2400" b="1" kern="100" dirty="0">
                <a:effectLst/>
                <a:latin typeface="Aptos" panose="020B0004020202020204" pitchFamily="34" charset="0"/>
                <a:ea typeface="Aptos" panose="020B0004020202020204" pitchFamily="34" charset="0"/>
                <a:cs typeface="Arial" panose="020B0604020202020204" pitchFamily="34" charset="0"/>
              </a:rPr>
              <a:t>SQL Server Enterprise</a:t>
            </a:r>
            <a:r>
              <a:rPr lang="en-US" sz="2400" kern="100" dirty="0">
                <a:effectLst/>
                <a:latin typeface="Aptos" panose="020B0004020202020204" pitchFamily="34" charset="0"/>
                <a:ea typeface="Aptos" panose="020B0004020202020204" pitchFamily="34" charset="0"/>
                <a:cs typeface="Arial" panose="020B0604020202020204" pitchFamily="34" charset="0"/>
              </a:rPr>
              <a:t>. This transition ensures system resilience through </a:t>
            </a:r>
            <a:r>
              <a:rPr lang="en-US" sz="2400" b="1" kern="100" dirty="0">
                <a:effectLst/>
                <a:latin typeface="Aptos" panose="020B0004020202020204" pitchFamily="34" charset="0"/>
                <a:ea typeface="Aptos" panose="020B0004020202020204" pitchFamily="34" charset="0"/>
                <a:cs typeface="Arial" panose="020B0604020202020204" pitchFamily="34" charset="0"/>
              </a:rPr>
              <a:t>Always On Availability</a:t>
            </a:r>
            <a:r>
              <a:rPr lang="en-US" sz="2400" kern="100" dirty="0">
                <a:effectLst/>
                <a:latin typeface="Aptos" panose="020B0004020202020204" pitchFamily="34" charset="0"/>
                <a:ea typeface="Aptos" panose="020B0004020202020204" pitchFamily="34" charset="0"/>
                <a:cs typeface="Arial" panose="020B0604020202020204" pitchFamily="34" charset="0"/>
              </a:rPr>
              <a:t>—guaranteeing the system never goes down—and implements high-level </a:t>
            </a:r>
            <a:r>
              <a:rPr lang="en-US" sz="2400" b="1" kern="100" dirty="0">
                <a:effectLst/>
                <a:latin typeface="Aptos" panose="020B0004020202020204" pitchFamily="34" charset="0"/>
                <a:ea typeface="Aptos" panose="020B0004020202020204" pitchFamily="34" charset="0"/>
                <a:cs typeface="Arial" panose="020B0604020202020204" pitchFamily="34" charset="0"/>
              </a:rPr>
              <a:t>Encryption (TDE)</a:t>
            </a:r>
            <a:r>
              <a:rPr lang="en-US" sz="2400" kern="100" dirty="0">
                <a:effectLst/>
                <a:latin typeface="Aptos" panose="020B0004020202020204" pitchFamily="34" charset="0"/>
                <a:ea typeface="Aptos" panose="020B0004020202020204" pitchFamily="34" charset="0"/>
                <a:cs typeface="Arial" panose="020B0604020202020204" pitchFamily="34" charset="0"/>
              </a:rPr>
              <a:t>, ensuring the radar system operates with maximum security and reliability in the production field.</a:t>
            </a:r>
            <a:br>
              <a:rPr lang="en-US" sz="2400" kern="100" dirty="0">
                <a:effectLst/>
                <a:latin typeface="Aptos" panose="020B0004020202020204" pitchFamily="34" charset="0"/>
                <a:ea typeface="Aptos" panose="020B0004020202020204" pitchFamily="34" charset="0"/>
                <a:cs typeface="Arial" panose="020B0604020202020204" pitchFamily="34" charset="0"/>
              </a:rPr>
            </a:br>
            <a:endParaRPr lang="ar-SA" sz="2400" dirty="0"/>
          </a:p>
        </p:txBody>
      </p:sp>
    </p:spTree>
    <p:extLst>
      <p:ext uri="{BB962C8B-B14F-4D97-AF65-F5344CB8AC3E}">
        <p14:creationId xmlns:p14="http://schemas.microsoft.com/office/powerpoint/2010/main" val="2643781608"/>
      </p:ext>
    </p:extLst>
  </p:cSld>
  <p:clrMapOvr>
    <a:masterClrMapping/>
  </p:clrMapOvr>
</p:sld>
</file>

<file path=ppt/theme/theme1.xml><?xml version="1.0" encoding="utf-8"?>
<a:theme xmlns:a="http://schemas.openxmlformats.org/drawingml/2006/main" name="tgt.TF10001105">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gt.TF10001105" id="{24C52A27-F0F3-4D6E-BBF3-13B764D946AB}" vid="{71D75FE4-7F68-4DD9-83D0-418904D12C4C}"/>
    </a:ext>
  </a:extLst>
</a:theme>
</file>

<file path=docProps/app.xml><?xml version="1.0" encoding="utf-8"?>
<Properties xmlns="http://schemas.openxmlformats.org/officeDocument/2006/extended-properties" xmlns:vt="http://schemas.openxmlformats.org/officeDocument/2006/docPropsVTypes">
  <Template>{52F55773-71CC-470C-9FEE-C6828A7DEEBE}TFc3084226-2d0c-440f-9f46-6b48c7a7f6701deb793d_win32-81ae5d4f3c52</Template>
  <TotalTime>72</TotalTime>
  <Words>331</Words>
  <Application>Microsoft Office PowerPoint</Application>
  <PresentationFormat>شاشة عريضة</PresentationFormat>
  <Paragraphs>33</Paragraphs>
  <Slides>3</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3</vt:i4>
      </vt:variant>
    </vt:vector>
  </HeadingPairs>
  <TitlesOfParts>
    <vt:vector size="8" baseType="lpstr">
      <vt:lpstr>Aptos</vt:lpstr>
      <vt:lpstr>Arial</vt:lpstr>
      <vt:lpstr>Franklin Gothic Book</vt:lpstr>
      <vt:lpstr>Times New Roman</vt:lpstr>
      <vt:lpstr>tgt.TF10001105</vt:lpstr>
      <vt:lpstr>a comparison between different databases </vt:lpstr>
      <vt:lpstr>Selected Database &amp; Rationale</vt:lpstr>
      <vt:lpstr>Note :  What is currently being demonstrated in Visual Studio is the Prototype phase. The primary objective of this stage is to design the core database architecture and validate the logic and data constraints in a controlled environment to ensure operational efficiency before actual deployment.  In a defense-grade environment, these tables will be migrated to SQL Server Enterprise. This transition ensures system resilience through Always On Availability—guaranteeing the system never goes down—and implements high-level Encryption (TDE), ensuring the radar system operates with maximum security and reliability in the production field.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Arwa Alzeer</dc:creator>
  <cp:lastModifiedBy>Arwa Alzeer</cp:lastModifiedBy>
  <cp:revision>1</cp:revision>
  <dcterms:created xsi:type="dcterms:W3CDTF">2026-02-05T05:24:16Z</dcterms:created>
  <dcterms:modified xsi:type="dcterms:W3CDTF">2026-02-05T06:37:07Z</dcterms:modified>
</cp:coreProperties>
</file>